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87"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83" autoAdjust="0"/>
    <p:restoredTop sz="94686"/>
  </p:normalViewPr>
  <p:slideViewPr>
    <p:cSldViewPr snapToGrid="0">
      <p:cViewPr>
        <p:scale>
          <a:sx n="66" d="100"/>
          <a:sy n="66" d="100"/>
        </p:scale>
        <p:origin x="63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logitechsabarni/NBA-Accredition-App-RAG-"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5203108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SABARNI GUHA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sabarni.guha15@gmail.com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9776389642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like Agriculture / Education / Healthcare / …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Write your project title here</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NBA </a:t>
            </a:r>
            <a:r>
              <a:rPr lang="en-US" b="1" dirty="0" err="1"/>
              <a:t>Accredition</a:t>
            </a:r>
            <a:r>
              <a:rPr lang="en-US" b="1" dirty="0"/>
              <a:t> App (RAG)</a:t>
            </a:r>
            <a:endParaRPr lang="en-US" dirty="0"/>
          </a:p>
          <a:p>
            <a:pPr fontAlgn="base"/>
            <a:endParaRPr lang="en-US" b="1" dirty="0"/>
          </a:p>
          <a:p>
            <a:pPr fontAlgn="base"/>
            <a:r>
              <a:rPr lang="en-US" b="1" dirty="0"/>
              <a:t>The Challenge</a:t>
            </a:r>
            <a:r>
              <a:rPr lang="en-US" dirty="0"/>
              <a:t> </a:t>
            </a:r>
          </a:p>
          <a:p>
            <a:endParaRPr lang="en-US" dirty="0"/>
          </a:p>
          <a:p>
            <a:r>
              <a:rPr lang="en-US" dirty="0"/>
              <a:t>Engineering colleges seeking accreditation from the </a:t>
            </a:r>
            <a:r>
              <a:rPr lang="en-US" b="1" dirty="0"/>
              <a:t>National Board of Accreditation (NBA)</a:t>
            </a:r>
            <a:r>
              <a:rPr lang="en-US" dirty="0"/>
              <a:t> are required to manage extensive academic and administrative data, including </a:t>
            </a:r>
            <a:r>
              <a:rPr lang="en-US" b="1" dirty="0"/>
              <a:t>Course Outcomes (COs), Program Outcomes (POs), attainment calculations, Self-Assessment Reports (SARs), faculty information, student performance records, and continuous improvement activities</a:t>
            </a:r>
            <a:r>
              <a:rPr lang="en-US" dirty="0"/>
              <a:t>.</a:t>
            </a:r>
          </a:p>
          <a:p>
            <a:r>
              <a:rPr lang="en-US" dirty="0"/>
              <a:t>Currently, most institutions rely on </a:t>
            </a:r>
            <a:r>
              <a:rPr lang="en-US" b="1" dirty="0"/>
              <a:t>manual processes, spreadsheets, disconnected software tools, and paper-based documentation</a:t>
            </a:r>
            <a:r>
              <a:rPr lang="en-US" dirty="0"/>
              <a:t> to handle accreditation requirements. This creates several challenges:</a:t>
            </a:r>
          </a:p>
          <a:p>
            <a:r>
              <a:rPr lang="en-US" dirty="0"/>
              <a:t>• Time-consuming CO–PO mapping and attainment calculations</a:t>
            </a:r>
            <a:br>
              <a:rPr lang="en-US" dirty="0"/>
            </a:br>
            <a:r>
              <a:rPr lang="en-US" dirty="0"/>
              <a:t>• Repetitive manual preparation of SAR documents</a:t>
            </a:r>
            <a:br>
              <a:rPr lang="en-US" dirty="0"/>
            </a:br>
            <a:r>
              <a:rPr lang="en-US" dirty="0"/>
              <a:t>• Difficulty in tracking accreditation readiness and compliance status</a:t>
            </a:r>
            <a:br>
              <a:rPr lang="en-US" dirty="0"/>
            </a:br>
            <a:r>
              <a:rPr lang="en-US" dirty="0"/>
              <a:t>• Data inconsistency across departments and programs</a:t>
            </a:r>
            <a:br>
              <a:rPr lang="en-US" dirty="0"/>
            </a:br>
            <a:r>
              <a:rPr lang="en-US" dirty="0"/>
              <a:t>• Limited visibility into performance trends and outcome achievement</a:t>
            </a:r>
            <a:br>
              <a:rPr lang="en-US" dirty="0"/>
            </a:br>
            <a:r>
              <a:rPr lang="en-US" dirty="0"/>
              <a:t>• Increased workload for faculty members and accreditation coordinators</a:t>
            </a:r>
            <a:br>
              <a:rPr lang="en-US" dirty="0"/>
            </a:br>
            <a:r>
              <a:rPr lang="en-US" dirty="0"/>
              <a:t>• Higher probability of human errors during report generation and audits</a:t>
            </a:r>
          </a:p>
          <a:p>
            <a:r>
              <a:rPr lang="en-US" dirty="0"/>
              <a:t>As accreditation standards become increasingly outcome-based and data-driven, institutions require a </a:t>
            </a:r>
            <a:r>
              <a:rPr lang="en-US" b="1" dirty="0"/>
              <a:t>centralized, intelligent, and automated platform</a:t>
            </a:r>
            <a:r>
              <a:rPr lang="en-US" dirty="0"/>
              <a:t> that can streamline accreditation workflows, provide real-time analytics, assist in compliance validation, and reduce the overall effort involved in NBA preparation.</a:t>
            </a:r>
          </a:p>
          <a:p>
            <a:r>
              <a:rPr lang="en-US" dirty="0"/>
              <a:t>The absence of such a system often results in inefficient resource utilization, delayed decision-making, and difficulties in maintaining continuous accreditation readiness.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77786" y="1165753"/>
            <a:ext cx="10607040" cy="4370427"/>
          </a:xfrm>
          <a:prstGeom prst="rect">
            <a:avLst/>
          </a:prstGeom>
          <a:noFill/>
        </p:spPr>
        <p:txBody>
          <a:bodyPr wrap="square" rtlCol="0">
            <a:spAutoFit/>
          </a:bodyPr>
          <a:lstStyle/>
          <a:p>
            <a:pPr fontAlgn="base"/>
            <a:endParaRPr lang="en-US" b="1" dirty="0"/>
          </a:p>
          <a:p>
            <a:pPr fontAlgn="base"/>
            <a:r>
              <a:rPr lang="en-IN" sz="2800" b="1" dirty="0"/>
              <a:t>Tech Stack:- </a:t>
            </a:r>
          </a:p>
          <a:p>
            <a:pPr fontAlgn="base"/>
            <a:endParaRPr lang="en-IN" b="1" dirty="0"/>
          </a:p>
          <a:p>
            <a:r>
              <a:rPr lang="en-IN" sz="2000" b="1" dirty="0"/>
              <a:t>Frontend:</a:t>
            </a:r>
            <a:r>
              <a:rPr lang="en-IN" sz="2000" dirty="0"/>
              <a:t> React, Vite, Tailwind CSS, Redux Toolkit, Recharts</a:t>
            </a:r>
            <a:br>
              <a:rPr lang="en-IN" sz="2000" dirty="0"/>
            </a:br>
            <a:r>
              <a:rPr lang="en-IN" sz="2000" b="1" dirty="0"/>
              <a:t>Backend:</a:t>
            </a:r>
            <a:r>
              <a:rPr lang="en-IN" sz="2000" dirty="0"/>
              <a:t> Python, Fast API, SQL Alchemy, JWT</a:t>
            </a:r>
            <a:br>
              <a:rPr lang="en-IN" sz="2000" dirty="0"/>
            </a:br>
            <a:r>
              <a:rPr lang="en-IN" sz="2000" b="1" dirty="0"/>
              <a:t>AI Layer:</a:t>
            </a:r>
            <a:r>
              <a:rPr lang="en-IN" sz="2000" dirty="0"/>
              <a:t> LangGraph, OpenAI, IBM Granite, RAG, Sentence Transformers, </a:t>
            </a:r>
            <a:r>
              <a:rPr lang="en-IN" sz="2000" dirty="0" err="1"/>
              <a:t>GeminiAPI</a:t>
            </a:r>
            <a:br>
              <a:rPr lang="en-IN" sz="2000" dirty="0"/>
            </a:br>
            <a:r>
              <a:rPr lang="en-IN" sz="2000" b="1" dirty="0"/>
              <a:t>Databases:</a:t>
            </a:r>
            <a:r>
              <a:rPr lang="en-IN" sz="2000" dirty="0"/>
              <a:t> PostgreSQL, MongoDB, Redis, FAISS</a:t>
            </a:r>
            <a:br>
              <a:rPr lang="en-IN" sz="2000" dirty="0"/>
            </a:br>
            <a:r>
              <a:rPr lang="en-IN" sz="2000" b="1" dirty="0"/>
              <a:t>DevOps:</a:t>
            </a:r>
            <a:r>
              <a:rPr lang="en-IN" sz="2000" dirty="0"/>
              <a:t> Docker, Kubernetes, Nginx, Render, </a:t>
            </a:r>
            <a:r>
              <a:rPr lang="en-IN" sz="2000" dirty="0" err="1"/>
              <a:t>Vercel</a:t>
            </a:r>
            <a:br>
              <a:rPr lang="en-IN" sz="2000" dirty="0"/>
            </a:br>
            <a:r>
              <a:rPr lang="en-IN" sz="2000" b="1" dirty="0"/>
              <a:t>Monitoring:</a:t>
            </a:r>
            <a:r>
              <a:rPr lang="en-IN" sz="2000" dirty="0"/>
              <a:t> Prometheus, Grafana, </a:t>
            </a:r>
            <a:r>
              <a:rPr lang="en-IN" sz="2000" dirty="0" err="1"/>
              <a:t>OpenTelemetry</a:t>
            </a:r>
            <a:endParaRPr lang="en-IN" sz="2000" dirty="0"/>
          </a:p>
          <a:p>
            <a:endParaRPr lang="en-IN" sz="2000" dirty="0"/>
          </a:p>
          <a:p>
            <a:pPr fontAlgn="base"/>
            <a:endParaRPr lang="en-IN" sz="2000" dirty="0"/>
          </a:p>
          <a:p>
            <a:pPr marL="285750" indent="-285750" fontAlgn="base">
              <a:buFont typeface="Arial" panose="020B0604020202020204" pitchFamily="34" charset="0"/>
              <a:buChar char="•"/>
            </a:pPr>
            <a:endParaRPr lang="en-IN" sz="2000"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pPr algn="ctr"/>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738664"/>
          </a:xfrm>
          <a:prstGeom prst="rect">
            <a:avLst/>
          </a:prstGeom>
          <a:noFill/>
        </p:spPr>
        <p:txBody>
          <a:bodyPr wrap="square" rtlCol="0">
            <a:spAutoFit/>
          </a:bodyPr>
          <a:lstStyle/>
          <a:p>
            <a:pPr fontAlgn="base"/>
            <a:endParaRPr lang="en-US" b="1" dirty="0"/>
          </a:p>
          <a:p>
            <a:pPr fontAlgn="base"/>
            <a:endParaRPr lang="en-US" dirty="0"/>
          </a:p>
          <a:p>
            <a:endParaRPr lang="en-IN" dirty="0"/>
          </a:p>
        </p:txBody>
      </p:sp>
      <p:sp>
        <p:nvSpPr>
          <p:cNvPr id="8" name="TextBox 7">
            <a:extLst>
              <a:ext uri="{FF2B5EF4-FFF2-40B4-BE49-F238E27FC236}">
                <a16:creationId xmlns:a16="http://schemas.microsoft.com/office/drawing/2014/main" id="{EBE24C4F-19F6-25DF-9DF8-202BA5BBB076}"/>
              </a:ext>
            </a:extLst>
          </p:cNvPr>
          <p:cNvSpPr txBox="1"/>
          <p:nvPr/>
        </p:nvSpPr>
        <p:spPr>
          <a:xfrm rot="10800000" flipV="1">
            <a:off x="452384" y="508074"/>
            <a:ext cx="10607041" cy="5047536"/>
          </a:xfrm>
          <a:prstGeom prst="rect">
            <a:avLst/>
          </a:prstGeom>
          <a:noFill/>
        </p:spPr>
        <p:txBody>
          <a:bodyPr wrap="square" rtlCol="0">
            <a:spAutoFit/>
          </a:bodyPr>
          <a:lstStyle/>
          <a:p>
            <a:r>
              <a:rPr lang="en-IN" b="1" dirty="0"/>
              <a:t>Proposed Solution (Brief)</a:t>
            </a:r>
          </a:p>
          <a:p>
            <a:endParaRPr lang="en-IN" b="1" dirty="0"/>
          </a:p>
          <a:p>
            <a:r>
              <a:rPr lang="en-IN" dirty="0"/>
              <a:t>The proposed solution is an </a:t>
            </a:r>
            <a:r>
              <a:rPr lang="en-IN" b="1" dirty="0"/>
              <a:t>AI-powered NBA Accreditation Management Platform</a:t>
            </a:r>
            <a:r>
              <a:rPr lang="en-IN" dirty="0"/>
              <a:t> that automates accreditation workflows for engineering institutions. The system integrates </a:t>
            </a:r>
            <a:r>
              <a:rPr lang="en-IN" b="1" dirty="0"/>
              <a:t>Artificial Intelligence, Retrieval-Augmented Generation (RAG), LangGraph orchestration, and analytics dashboards</a:t>
            </a:r>
            <a:r>
              <a:rPr lang="en-IN" dirty="0"/>
              <a:t> to streamline documentation, assessment, compliance validation, and report generation.</a:t>
            </a:r>
          </a:p>
          <a:p>
            <a:r>
              <a:rPr lang="en-IN" b="1" dirty="0"/>
              <a:t>Key Features</a:t>
            </a:r>
          </a:p>
          <a:p>
            <a:r>
              <a:rPr lang="en-IN" b="1" dirty="0"/>
              <a:t>AI Assistant:</a:t>
            </a:r>
            <a:r>
              <a:rPr lang="en-IN" dirty="0"/>
              <a:t> Provides instant guidance on NBA criteria, accreditation processes, and documentation. </a:t>
            </a:r>
          </a:p>
          <a:p>
            <a:r>
              <a:rPr lang="en-IN" b="1" dirty="0"/>
              <a:t>CO–PO Mapping Automation:</a:t>
            </a:r>
            <a:r>
              <a:rPr lang="en-IN" dirty="0"/>
              <a:t> Generates and validates Course Outcome–Program Outcome mappings with AI recommendations. </a:t>
            </a:r>
          </a:p>
          <a:p>
            <a:r>
              <a:rPr lang="en-IN" b="1" dirty="0"/>
              <a:t>Attainment Calculation:</a:t>
            </a:r>
            <a:r>
              <a:rPr lang="en-IN" dirty="0"/>
              <a:t> Automatically computes CO and PO attainment levels using NBA methodologies. </a:t>
            </a:r>
          </a:p>
          <a:p>
            <a:r>
              <a:rPr lang="en-IN" b="1" dirty="0"/>
              <a:t>SAR Generation:</a:t>
            </a:r>
            <a:r>
              <a:rPr lang="en-IN" dirty="0"/>
              <a:t> Creates structured Self-Assessment Reports with minimal manual effort. </a:t>
            </a:r>
          </a:p>
          <a:p>
            <a:r>
              <a:rPr lang="en-IN" b="1" dirty="0"/>
              <a:t>Continuous Improvement Tracking:</a:t>
            </a:r>
            <a:r>
              <a:rPr lang="en-IN" dirty="0"/>
              <a:t> Monitors feedback, gap analysis, action plans, and improvement cycles. </a:t>
            </a:r>
          </a:p>
          <a:p>
            <a:r>
              <a:rPr lang="en-IN" b="1" dirty="0"/>
              <a:t>Analytics Dashboard:</a:t>
            </a:r>
            <a:r>
              <a:rPr lang="en-IN" dirty="0"/>
              <a:t> Displays readiness scores, attainment trends, compliance metrics, and performance insights. </a:t>
            </a:r>
          </a:p>
          <a:p>
            <a:r>
              <a:rPr lang="en-IN" b="1" dirty="0"/>
              <a:t>RAG Knowledge Base:</a:t>
            </a:r>
            <a:r>
              <a:rPr lang="en-IN" dirty="0"/>
              <a:t> Uses NBA manuals and institutional documents for accurate, context-aware responses. </a:t>
            </a:r>
          </a:p>
          <a:p>
            <a:r>
              <a:rPr lang="en-IN" b="1" dirty="0"/>
              <a:t>Workflow Orchestration:</a:t>
            </a:r>
            <a:r>
              <a:rPr lang="en-IN" dirty="0"/>
              <a:t> LangGraph-based execution pipeline ensures reliable, traceable, and scalable AI operations. </a:t>
            </a:r>
          </a:p>
          <a:p>
            <a:r>
              <a:rPr lang="en-IN" b="1" dirty="0"/>
              <a:t>Benefits</a:t>
            </a:r>
          </a:p>
          <a:p>
            <a:r>
              <a:rPr lang="en-IN" dirty="0"/>
              <a:t>Reduces manual accreditation effort. </a:t>
            </a:r>
          </a:p>
          <a:p>
            <a:r>
              <a:rPr lang="en-IN" dirty="0"/>
              <a:t>Improves accuracy and compliance. </a:t>
            </a:r>
          </a:p>
          <a:p>
            <a:r>
              <a:rPr lang="en-IN" dirty="0"/>
              <a:t>Accelerates report preparation. </a:t>
            </a:r>
          </a:p>
          <a:p>
            <a:r>
              <a:rPr lang="en-IN" dirty="0"/>
              <a:t>Provides real-time accreditation readiness insights. </a:t>
            </a:r>
          </a:p>
          <a:p>
            <a:r>
              <a:rPr lang="en-IN" dirty="0"/>
              <a:t>Centralizes data, evidence, and documentation management. </a:t>
            </a:r>
          </a:p>
          <a:p>
            <a:r>
              <a:rPr lang="en-IN" b="1" dirty="0"/>
              <a:t>Summary:</a:t>
            </a:r>
            <a:br>
              <a:rPr lang="en-IN" dirty="0"/>
            </a:br>
            <a:r>
              <a:rPr lang="en-IN" i="1" dirty="0"/>
              <a:t>An intelligent platform that automates NBA accreditation processes, improves compliance management, and enables data-driven decision-making through AI and advanced analytics.</a:t>
            </a:r>
            <a:endParaRPr lang="en-IN"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7" name="Rectangle 4">
            <a:extLst>
              <a:ext uri="{FF2B5EF4-FFF2-40B4-BE49-F238E27FC236}">
                <a16:creationId xmlns:a16="http://schemas.microsoft.com/office/drawing/2014/main" id="{8ECAD460-0F13-B1A7-6DD8-52D58102F76C}"/>
              </a:ext>
            </a:extLst>
          </p:cNvPr>
          <p:cNvSpPr>
            <a:spLocks noChangeArrowheads="1"/>
          </p:cNvSpPr>
          <p:nvPr/>
        </p:nvSpPr>
        <p:spPr bwMode="auto">
          <a:xfrm>
            <a:off x="461987" y="1166320"/>
            <a:ext cx="10838072" cy="389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Lang Flow Components Used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NBA Enterprise AI Platform leverages </a:t>
            </a:r>
            <a:r>
              <a:rPr kumimoji="0" lang="en-US" altLang="en-US" b="1" i="0" u="none" strike="noStrike" cap="none" normalizeH="0" baseline="0" dirty="0">
                <a:ln>
                  <a:noFill/>
                </a:ln>
                <a:solidFill>
                  <a:schemeClr val="tx1"/>
                </a:solidFill>
                <a:effectLst/>
                <a:latin typeface="Arial" panose="020B0604020202020204" pitchFamily="34" charset="0"/>
              </a:rPr>
              <a:t>Lang Flow</a:t>
            </a:r>
            <a:r>
              <a:rPr kumimoji="0" lang="en-US" altLang="en-US" b="0" i="0" u="none" strike="noStrike" cap="none" normalizeH="0" baseline="0" dirty="0">
                <a:ln>
                  <a:noFill/>
                </a:ln>
                <a:solidFill>
                  <a:schemeClr val="tx1"/>
                </a:solidFill>
                <a:effectLst/>
                <a:latin typeface="Arial" panose="020B0604020202020204" pitchFamily="34" charset="0"/>
              </a:rPr>
              <a:t> to visually design and orchestrate the complete AI workflow. The system begins with a </a:t>
            </a:r>
            <a:r>
              <a:rPr kumimoji="0" lang="en-US" altLang="en-US" b="1" i="0" u="none" strike="noStrike" cap="none" normalizeH="0" baseline="0" dirty="0">
                <a:ln>
                  <a:noFill/>
                </a:ln>
                <a:solidFill>
                  <a:schemeClr val="tx1"/>
                </a:solidFill>
                <a:effectLst/>
                <a:latin typeface="Arial" panose="020B0604020202020204" pitchFamily="34" charset="0"/>
              </a:rPr>
              <a:t>Chat Input Component</a:t>
            </a:r>
            <a:r>
              <a:rPr kumimoji="0" lang="en-US" altLang="en-US" b="0" i="0" u="none" strike="noStrike" cap="none" normalizeH="0" baseline="0" dirty="0">
                <a:ln>
                  <a:noFill/>
                </a:ln>
                <a:solidFill>
                  <a:schemeClr val="tx1"/>
                </a:solidFill>
                <a:effectLst/>
                <a:latin typeface="Arial" panose="020B0604020202020204" pitchFamily="34" charset="0"/>
              </a:rPr>
              <a:t>, which captures user queries related to accreditation processes such as CO-PO mapping, attainment calculation, SAR generation, and compliance analysis. The input is then processed through </a:t>
            </a:r>
            <a:r>
              <a:rPr kumimoji="0" lang="en-US" altLang="en-US" b="1" i="0" u="none" strike="noStrike" cap="none" normalizeH="0" baseline="0" dirty="0">
                <a:ln>
                  <a:noFill/>
                </a:ln>
                <a:solidFill>
                  <a:schemeClr val="tx1"/>
                </a:solidFill>
                <a:effectLst/>
                <a:latin typeface="Arial" panose="020B0604020202020204" pitchFamily="34" charset="0"/>
              </a:rPr>
              <a:t>Prompt Template Components</a:t>
            </a:r>
            <a:r>
              <a:rPr kumimoji="0" lang="en-US" altLang="en-US" b="0" i="0" u="none" strike="noStrike" cap="none" normalizeH="0" baseline="0" dirty="0">
                <a:ln>
                  <a:noFill/>
                </a:ln>
                <a:solidFill>
                  <a:schemeClr val="tx1"/>
                </a:solidFill>
                <a:effectLst/>
                <a:latin typeface="Arial" panose="020B0604020202020204" pitchFamily="34" charset="0"/>
              </a:rPr>
              <a:t> that structure the query into standardized prompts for AI processing. NBA manuals, accreditation documents, and institutional reports are loaded using </a:t>
            </a:r>
            <a:r>
              <a:rPr kumimoji="0" lang="en-US" altLang="en-US" b="1" i="0" u="none" strike="noStrike" cap="none" normalizeH="0" baseline="0" dirty="0">
                <a:ln>
                  <a:noFill/>
                </a:ln>
                <a:solidFill>
                  <a:schemeClr val="tx1"/>
                </a:solidFill>
                <a:effectLst/>
                <a:latin typeface="Arial" panose="020B0604020202020204" pitchFamily="34" charset="0"/>
              </a:rPr>
              <a:t>Document Loader Components</a:t>
            </a:r>
            <a:r>
              <a:rPr kumimoji="0" lang="en-US" altLang="en-US" b="0" i="0" u="none" strike="noStrike" cap="none" normalizeH="0" baseline="0" dirty="0">
                <a:ln>
                  <a:noFill/>
                </a:ln>
                <a:solidFill>
                  <a:schemeClr val="tx1"/>
                </a:solidFill>
                <a:effectLst/>
                <a:latin typeface="Arial" panose="020B0604020202020204" pitchFamily="34" charset="0"/>
              </a:rPr>
              <a:t> and segmented through </a:t>
            </a:r>
            <a:r>
              <a:rPr kumimoji="0" lang="en-US" altLang="en-US" b="1" i="0" u="none" strike="noStrike" cap="none" normalizeH="0" baseline="0" dirty="0">
                <a:ln>
                  <a:noFill/>
                </a:ln>
                <a:solidFill>
                  <a:schemeClr val="tx1"/>
                </a:solidFill>
                <a:effectLst/>
                <a:latin typeface="Arial" panose="020B0604020202020204" pitchFamily="34" charset="0"/>
              </a:rPr>
              <a:t>Text Splitter Components</a:t>
            </a:r>
            <a:r>
              <a:rPr kumimoji="0" lang="en-US" altLang="en-US" b="0" i="0" u="none" strike="noStrike" cap="none" normalizeH="0" baseline="0" dirty="0">
                <a:ln>
                  <a:noFill/>
                </a:ln>
                <a:solidFill>
                  <a:schemeClr val="tx1"/>
                </a:solidFill>
                <a:effectLst/>
                <a:latin typeface="Arial" panose="020B0604020202020204" pitchFamily="34" charset="0"/>
              </a:rPr>
              <a:t> to enable efficient knowledge retrieval. These document chunks are converted into vector embeddings using </a:t>
            </a:r>
            <a:r>
              <a:rPr kumimoji="0" lang="en-US" altLang="en-US" b="1" i="0" u="none" strike="noStrike" cap="none" normalizeH="0" baseline="0" dirty="0">
                <a:ln>
                  <a:noFill/>
                </a:ln>
                <a:solidFill>
                  <a:schemeClr val="tx1"/>
                </a:solidFill>
                <a:effectLst/>
                <a:latin typeface="Arial" panose="020B0604020202020204" pitchFamily="34" charset="0"/>
              </a:rPr>
              <a:t>Sentence Transformer Embedding Components</a:t>
            </a:r>
            <a:r>
              <a:rPr kumimoji="0" lang="en-US" altLang="en-US" b="0" i="0" u="none" strike="noStrike" cap="none" normalizeH="0" baseline="0" dirty="0">
                <a:ln>
                  <a:noFill/>
                </a:ln>
                <a:solidFill>
                  <a:schemeClr val="tx1"/>
                </a:solidFill>
                <a:effectLst/>
                <a:latin typeface="Arial" panose="020B0604020202020204" pitchFamily="34" charset="0"/>
              </a:rPr>
              <a:t> and stored in a </a:t>
            </a:r>
            <a:r>
              <a:rPr kumimoji="0" lang="en-US" altLang="en-US" b="1" i="0" u="none" strike="noStrike" cap="none" normalizeH="0" baseline="0" dirty="0">
                <a:ln>
                  <a:noFill/>
                </a:ln>
                <a:solidFill>
                  <a:schemeClr val="tx1"/>
                </a:solidFill>
                <a:effectLst/>
                <a:latin typeface="Arial" panose="020B0604020202020204" pitchFamily="34" charset="0"/>
              </a:rPr>
              <a:t>FAISS Vector Store</a:t>
            </a:r>
            <a:r>
              <a:rPr kumimoji="0" lang="en-US" altLang="en-US" b="0" i="0" u="none" strike="noStrike" cap="none" normalizeH="0" baseline="0" dirty="0">
                <a:ln>
                  <a:noFill/>
                </a:ln>
                <a:solidFill>
                  <a:schemeClr val="tx1"/>
                </a:solidFill>
                <a:effectLst/>
                <a:latin typeface="Arial" panose="020B0604020202020204" pitchFamily="34" charset="0"/>
              </a:rPr>
              <a:t> for semantic search. When a query is received, a </a:t>
            </a:r>
            <a:r>
              <a:rPr kumimoji="0" lang="en-US" altLang="en-US" b="1" i="0" u="none" strike="noStrike" cap="none" normalizeH="0" baseline="0" dirty="0">
                <a:ln>
                  <a:noFill/>
                </a:ln>
                <a:solidFill>
                  <a:schemeClr val="tx1"/>
                </a:solidFill>
                <a:effectLst/>
                <a:latin typeface="Arial" panose="020B0604020202020204" pitchFamily="34" charset="0"/>
              </a:rPr>
              <a:t>Retriever Component</a:t>
            </a:r>
            <a:r>
              <a:rPr kumimoji="0" lang="en-US" altLang="en-US" b="0" i="0" u="none" strike="noStrike" cap="none" normalizeH="0" baseline="0" dirty="0">
                <a:ln>
                  <a:noFill/>
                </a:ln>
                <a:solidFill>
                  <a:schemeClr val="tx1"/>
                </a:solidFill>
                <a:effectLst/>
                <a:latin typeface="Arial" panose="020B0604020202020204" pitchFamily="34" charset="0"/>
              </a:rPr>
              <a:t> fetches the most relevant accreditation guidelines and contextual information from the vector database. The retrieved context is then passed to </a:t>
            </a:r>
            <a:r>
              <a:rPr kumimoji="0" lang="en-US" altLang="en-US" b="1" i="0" u="none" strike="noStrike" cap="none" normalizeH="0" baseline="0" dirty="0">
                <a:ln>
                  <a:noFill/>
                </a:ln>
                <a:solidFill>
                  <a:schemeClr val="tx1"/>
                </a:solidFill>
                <a:effectLst/>
                <a:latin typeface="Arial" panose="020B0604020202020204" pitchFamily="34" charset="0"/>
              </a:rPr>
              <a:t>LLM Components</a:t>
            </a:r>
            <a:r>
              <a:rPr kumimoji="0" lang="en-US" altLang="en-US" b="0" i="0" u="none" strike="noStrike" cap="none" normalizeH="0" baseline="0" dirty="0">
                <a:ln>
                  <a:noFill/>
                </a:ln>
                <a:solidFill>
                  <a:schemeClr val="tx1"/>
                </a:solidFill>
                <a:effectLst/>
                <a:latin typeface="Arial" panose="020B0604020202020204" pitchFamily="34" charset="0"/>
              </a:rPr>
              <a:t>, including IBM Granite (watsonx.ai) and OpenAI models, which generate intelligent responses and recommendations. Specialized </a:t>
            </a:r>
            <a:r>
              <a:rPr kumimoji="0" lang="en-US" altLang="en-US" b="1" i="0" u="none" strike="noStrike" cap="none" normalizeH="0" baseline="0" dirty="0">
                <a:ln>
                  <a:noFill/>
                </a:ln>
                <a:solidFill>
                  <a:schemeClr val="tx1"/>
                </a:solidFill>
                <a:effectLst/>
                <a:latin typeface="Arial" panose="020B0604020202020204" pitchFamily="34" charset="0"/>
              </a:rPr>
              <a:t>Agent Components</a:t>
            </a:r>
            <a:r>
              <a:rPr kumimoji="0" lang="en-US" altLang="en-US" b="0" i="0" u="none" strike="noStrike" cap="none" normalizeH="0" baseline="0" dirty="0">
                <a:ln>
                  <a:noFill/>
                </a:ln>
                <a:solidFill>
                  <a:schemeClr val="tx1"/>
                </a:solidFill>
                <a:effectLst/>
                <a:latin typeface="Arial" panose="020B0604020202020204" pitchFamily="34" charset="0"/>
              </a:rPr>
              <a:t> such as the COPO Agent, Attainment Agent, SAR Agent, Continuous Improvement Agent, and Validation Agent perform domain-specific tasks and ensure compliance with NBA standards. The entire workflow is coordinated through </a:t>
            </a:r>
            <a:r>
              <a:rPr kumimoji="0" lang="en-US" altLang="en-US" b="1" i="0" u="none" strike="noStrike" cap="none" normalizeH="0" baseline="0" dirty="0">
                <a:ln>
                  <a:noFill/>
                </a:ln>
                <a:solidFill>
                  <a:schemeClr val="tx1"/>
                </a:solidFill>
                <a:effectLst/>
                <a:latin typeface="Arial" panose="020B0604020202020204" pitchFamily="34" charset="0"/>
              </a:rPr>
              <a:t>LangGraph Orchestration Components</a:t>
            </a:r>
            <a:r>
              <a:rPr kumimoji="0" lang="en-US" altLang="en-US" b="0" i="0" u="none" strike="noStrike" cap="none" normalizeH="0" baseline="0" dirty="0">
                <a:ln>
                  <a:noFill/>
                </a:ln>
                <a:solidFill>
                  <a:schemeClr val="tx1"/>
                </a:solidFill>
                <a:effectLst/>
                <a:latin typeface="Arial" panose="020B0604020202020204" pitchFamily="34" charset="0"/>
              </a:rPr>
              <a:t>, which manage intent classification, agent routing, validation, retrieval, and response generation. Finally, </a:t>
            </a:r>
            <a:r>
              <a:rPr kumimoji="0" lang="en-US" altLang="en-US" b="1" i="0" u="none" strike="noStrike" cap="none" normalizeH="0" baseline="0" dirty="0">
                <a:ln>
                  <a:noFill/>
                </a:ln>
                <a:solidFill>
                  <a:schemeClr val="tx1"/>
                </a:solidFill>
                <a:effectLst/>
                <a:latin typeface="Arial" panose="020B0604020202020204" pitchFamily="34" charset="0"/>
              </a:rPr>
              <a:t>Output Parser Components</a:t>
            </a:r>
            <a:r>
              <a:rPr kumimoji="0" lang="en-US" altLang="en-US" b="0" i="0" u="none" strike="noStrike" cap="none" normalizeH="0" baseline="0" dirty="0">
                <a:ln>
                  <a:noFill/>
                </a:ln>
                <a:solidFill>
                  <a:schemeClr val="tx1"/>
                </a:solidFill>
                <a:effectLst/>
                <a:latin typeface="Arial" panose="020B0604020202020204" pitchFamily="34" charset="0"/>
              </a:rPr>
              <a:t> structure the results into reports, analytics, dashboards, and actionable insights, while </a:t>
            </a:r>
            <a:r>
              <a:rPr kumimoji="0" lang="en-US" altLang="en-US" b="1" i="0" u="none" strike="noStrike" cap="none" normalizeH="0" baseline="0" dirty="0">
                <a:ln>
                  <a:noFill/>
                </a:ln>
                <a:solidFill>
                  <a:schemeClr val="tx1"/>
                </a:solidFill>
                <a:effectLst/>
                <a:latin typeface="Arial" panose="020B0604020202020204" pitchFamily="34" charset="0"/>
              </a:rPr>
              <a:t>Memory Components</a:t>
            </a:r>
            <a:r>
              <a:rPr kumimoji="0" lang="en-US" altLang="en-US" b="0" i="0" u="none" strike="noStrike" cap="none" normalizeH="0" baseline="0" dirty="0">
                <a:ln>
                  <a:noFill/>
                </a:ln>
                <a:solidFill>
                  <a:schemeClr val="tx1"/>
                </a:solidFill>
                <a:effectLst/>
                <a:latin typeface="Arial" panose="020B0604020202020204" pitchFamily="34" charset="0"/>
              </a:rPr>
              <a:t> maintain conversation context to support multi-turn interactions and a seamless user experience.</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CC20A8-582B-8EC6-38BE-CFB2DE88247E}"/>
              </a:ext>
            </a:extLst>
          </p:cNvPr>
          <p:cNvSpPr>
            <a:spLocks noGrp="1"/>
          </p:cNvSpPr>
          <p:nvPr>
            <p:ph type="body" idx="1"/>
          </p:nvPr>
        </p:nvSpPr>
        <p:spPr>
          <a:xfrm>
            <a:off x="350587" y="1028116"/>
            <a:ext cx="10515600" cy="1500187"/>
          </a:xfrm>
        </p:spPr>
        <p:txBody>
          <a:bodyPr/>
          <a:lstStyle/>
          <a:p>
            <a:pPr algn="ctr"/>
            <a:r>
              <a:rPr lang="en-US" dirty="0">
                <a:solidFill>
                  <a:schemeClr val="tx1"/>
                </a:solidFill>
              </a:rPr>
              <a:t>LANGFLOW</a:t>
            </a:r>
            <a:endParaRPr lang="en-IN" dirty="0">
              <a:solidFill>
                <a:schemeClr val="tx1"/>
              </a:solidFill>
            </a:endParaRPr>
          </a:p>
        </p:txBody>
      </p:sp>
      <p:pic>
        <p:nvPicPr>
          <p:cNvPr id="5" name="Picture 4">
            <a:extLst>
              <a:ext uri="{FF2B5EF4-FFF2-40B4-BE49-F238E27FC236}">
                <a16:creationId xmlns:a16="http://schemas.microsoft.com/office/drawing/2014/main" id="{1AC510BF-A56E-80AD-756D-53992843F35D}"/>
              </a:ext>
            </a:extLst>
          </p:cNvPr>
          <p:cNvPicPr>
            <a:picLocks noChangeAspect="1"/>
          </p:cNvPicPr>
          <p:nvPr/>
        </p:nvPicPr>
        <p:blipFill>
          <a:blip r:embed="rId2"/>
          <a:stretch>
            <a:fillRect/>
          </a:stretch>
        </p:blipFill>
        <p:spPr>
          <a:xfrm>
            <a:off x="856649" y="1778209"/>
            <a:ext cx="11154056" cy="3552411"/>
          </a:xfrm>
          <a:prstGeom prst="rect">
            <a:avLst/>
          </a:prstGeom>
        </p:spPr>
      </p:pic>
    </p:spTree>
    <p:extLst>
      <p:ext uri="{BB962C8B-B14F-4D97-AF65-F5344CB8AC3E}">
        <p14:creationId xmlns:p14="http://schemas.microsoft.com/office/powerpoint/2010/main" val="3885505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5122" name="Picture 2">
            <a:extLst>
              <a:ext uri="{FF2B5EF4-FFF2-40B4-BE49-F238E27FC236}">
                <a16:creationId xmlns:a16="http://schemas.microsoft.com/office/drawing/2014/main" id="{823B7958-60A6-FCA4-EA0D-7F95C9CF77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490" y="1368331"/>
            <a:ext cx="6182006" cy="41213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105878" y="1279301"/>
            <a:ext cx="7406640" cy="523220"/>
          </a:xfrm>
          <a:prstGeom prst="rect">
            <a:avLst/>
          </a:prstGeom>
          <a:noFill/>
        </p:spPr>
        <p:txBody>
          <a:bodyPr wrap="square" rtlCol="0">
            <a:spAutoFit/>
          </a:bodyPr>
          <a:lstStyle/>
          <a:p>
            <a:r>
              <a:rPr lang="en-US" b="1" dirty="0"/>
              <a:t>Role of Agentic AI</a:t>
            </a:r>
          </a:p>
          <a:p>
            <a:endParaRPr lang="en-US" b="1" dirty="0"/>
          </a:p>
        </p:txBody>
      </p:sp>
      <p:sp>
        <p:nvSpPr>
          <p:cNvPr id="4" name="Rectangle 1">
            <a:extLst>
              <a:ext uri="{FF2B5EF4-FFF2-40B4-BE49-F238E27FC236}">
                <a16:creationId xmlns:a16="http://schemas.microsoft.com/office/drawing/2014/main" id="{FF599EB3-54EA-085D-1886-DBC6ADE62D8E}"/>
              </a:ext>
            </a:extLst>
          </p:cNvPr>
          <p:cNvSpPr>
            <a:spLocks noChangeArrowheads="1"/>
          </p:cNvSpPr>
          <p:nvPr/>
        </p:nvSpPr>
        <p:spPr bwMode="auto">
          <a:xfrm>
            <a:off x="105878" y="1305341"/>
            <a:ext cx="708419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Agentic AI</a:t>
            </a:r>
            <a:r>
              <a:rPr kumimoji="0" lang="en-US" altLang="en-US" sz="1200" b="0" i="0" u="none" strike="noStrike" cap="none" normalizeH="0" baseline="0" dirty="0">
                <a:ln>
                  <a:noFill/>
                </a:ln>
                <a:solidFill>
                  <a:schemeClr val="tx1"/>
                </a:solidFill>
                <a:effectLst/>
                <a:latin typeface="Arial" panose="020B0604020202020204" pitchFamily="34" charset="0"/>
              </a:rPr>
              <a:t> serves as the core intelligence layer of the NBA Accreditation Management Platform. Instead of functioning as a simple chatbot, it operates through multiple specialized AI agents that can independently analyze data, make decisions, execute tasks, collaborate with other agents, and generate actionable outputs. This enables the platform to automate complex accreditation workflows that traditionally require significant manual effort and expertise.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Within the system, each agent is assigned a specific responsibility. The </a:t>
            </a:r>
            <a:r>
              <a:rPr kumimoji="0" lang="en-US" altLang="en-US" sz="1200" b="1" i="0" u="none" strike="noStrike" cap="none" normalizeH="0" baseline="0" dirty="0">
                <a:ln>
                  <a:noFill/>
                </a:ln>
                <a:solidFill>
                  <a:schemeClr val="tx1"/>
                </a:solidFill>
                <a:effectLst/>
                <a:latin typeface="Arial" panose="020B0604020202020204" pitchFamily="34" charset="0"/>
              </a:rPr>
              <a:t>COPO Agent</a:t>
            </a:r>
            <a:r>
              <a:rPr kumimoji="0" lang="en-US" altLang="en-US" sz="1200" b="0" i="0" u="none" strike="noStrike" cap="none" normalizeH="0" baseline="0" dirty="0">
                <a:ln>
                  <a:noFill/>
                </a:ln>
                <a:solidFill>
                  <a:schemeClr val="tx1"/>
                </a:solidFill>
                <a:effectLst/>
                <a:latin typeface="Arial" panose="020B0604020202020204" pitchFamily="34" charset="0"/>
              </a:rPr>
              <a:t> generates and validates CO–PO mappings, the </a:t>
            </a:r>
            <a:r>
              <a:rPr kumimoji="0" lang="en-US" altLang="en-US" sz="1200" b="1" i="0" u="none" strike="noStrike" cap="none" normalizeH="0" baseline="0" dirty="0">
                <a:ln>
                  <a:noFill/>
                </a:ln>
                <a:solidFill>
                  <a:schemeClr val="tx1"/>
                </a:solidFill>
                <a:effectLst/>
                <a:latin typeface="Arial" panose="020B0604020202020204" pitchFamily="34" charset="0"/>
              </a:rPr>
              <a:t>Attainment Agent</a:t>
            </a:r>
            <a:r>
              <a:rPr kumimoji="0" lang="en-US" altLang="en-US" sz="1200" b="0" i="0" u="none" strike="noStrike" cap="none" normalizeH="0" baseline="0" dirty="0">
                <a:ln>
                  <a:noFill/>
                </a:ln>
                <a:solidFill>
                  <a:schemeClr val="tx1"/>
                </a:solidFill>
                <a:effectLst/>
                <a:latin typeface="Arial" panose="020B0604020202020204" pitchFamily="34" charset="0"/>
              </a:rPr>
              <a:t> computes attainment scores and identifies performance gaps, the </a:t>
            </a:r>
            <a:r>
              <a:rPr kumimoji="0" lang="en-US" altLang="en-US" sz="1200" b="1" i="0" u="none" strike="noStrike" cap="none" normalizeH="0" baseline="0" dirty="0">
                <a:ln>
                  <a:noFill/>
                </a:ln>
                <a:solidFill>
                  <a:schemeClr val="tx1"/>
                </a:solidFill>
                <a:effectLst/>
                <a:latin typeface="Arial" panose="020B0604020202020204" pitchFamily="34" charset="0"/>
              </a:rPr>
              <a:t>SAR Agent</a:t>
            </a:r>
            <a:r>
              <a:rPr kumimoji="0" lang="en-US" altLang="en-US" sz="1200" b="0" i="0" u="none" strike="noStrike" cap="none" normalizeH="0" baseline="0" dirty="0">
                <a:ln>
                  <a:noFill/>
                </a:ln>
                <a:solidFill>
                  <a:schemeClr val="tx1"/>
                </a:solidFill>
                <a:effectLst/>
                <a:latin typeface="Arial" panose="020B0604020202020204" pitchFamily="34" charset="0"/>
              </a:rPr>
              <a:t> assists in preparing Self-Assessment Reports, the </a:t>
            </a:r>
            <a:r>
              <a:rPr kumimoji="0" lang="en-US" altLang="en-US" sz="1200" b="1" i="0" u="none" strike="noStrike" cap="none" normalizeH="0" baseline="0" dirty="0">
                <a:ln>
                  <a:noFill/>
                </a:ln>
                <a:solidFill>
                  <a:schemeClr val="tx1"/>
                </a:solidFill>
                <a:effectLst/>
                <a:latin typeface="Arial" panose="020B0604020202020204" pitchFamily="34" charset="0"/>
              </a:rPr>
              <a:t>Continuous Improvement Agent</a:t>
            </a:r>
            <a:r>
              <a:rPr kumimoji="0" lang="en-US" altLang="en-US" sz="1200" b="0" i="0" u="none" strike="noStrike" cap="none" normalizeH="0" baseline="0" dirty="0">
                <a:ln>
                  <a:noFill/>
                </a:ln>
                <a:solidFill>
                  <a:schemeClr val="tx1"/>
                </a:solidFill>
                <a:effectLst/>
                <a:latin typeface="Arial" panose="020B0604020202020204" pitchFamily="34" charset="0"/>
              </a:rPr>
              <a:t> recommends corrective actions based on attainment results and feedback, the </a:t>
            </a:r>
            <a:r>
              <a:rPr kumimoji="0" lang="en-US" altLang="en-US" sz="1200" b="1" i="0" u="none" strike="noStrike" cap="none" normalizeH="0" baseline="0" dirty="0">
                <a:ln>
                  <a:noFill/>
                </a:ln>
                <a:solidFill>
                  <a:schemeClr val="tx1"/>
                </a:solidFill>
                <a:effectLst/>
                <a:latin typeface="Arial" panose="020B0604020202020204" pitchFamily="34" charset="0"/>
              </a:rPr>
              <a:t>Analytics Agent</a:t>
            </a:r>
            <a:r>
              <a:rPr kumimoji="0" lang="en-US" altLang="en-US" sz="1200" b="0" i="0" u="none" strike="noStrike" cap="none" normalizeH="0" baseline="0" dirty="0">
                <a:ln>
                  <a:noFill/>
                </a:ln>
                <a:solidFill>
                  <a:schemeClr val="tx1"/>
                </a:solidFill>
                <a:effectLst/>
                <a:latin typeface="Arial" panose="020B0604020202020204" pitchFamily="34" charset="0"/>
              </a:rPr>
              <a:t> generates accreditation readiness insights, and the </a:t>
            </a:r>
            <a:r>
              <a:rPr kumimoji="0" lang="en-US" altLang="en-US" sz="1200" b="1" i="0" u="none" strike="noStrike" cap="none" normalizeH="0" baseline="0" dirty="0">
                <a:ln>
                  <a:noFill/>
                </a:ln>
                <a:solidFill>
                  <a:schemeClr val="tx1"/>
                </a:solidFill>
                <a:effectLst/>
                <a:latin typeface="Arial" panose="020B0604020202020204" pitchFamily="34" charset="0"/>
              </a:rPr>
              <a:t>Validation Agent</a:t>
            </a:r>
            <a:r>
              <a:rPr kumimoji="0" lang="en-US" altLang="en-US" sz="1200" b="0" i="0" u="none" strike="noStrike" cap="none" normalizeH="0" baseline="0" dirty="0">
                <a:ln>
                  <a:noFill/>
                </a:ln>
                <a:solidFill>
                  <a:schemeClr val="tx1"/>
                </a:solidFill>
                <a:effectLst/>
                <a:latin typeface="Arial" panose="020B0604020202020204" pitchFamily="34" charset="0"/>
              </a:rPr>
              <a:t> ensures compliance with NBA guidelines. These agents work together under a </a:t>
            </a:r>
            <a:r>
              <a:rPr kumimoji="0" lang="en-US" altLang="en-US" sz="1200" b="1" i="0" u="none" strike="noStrike" cap="none" normalizeH="0" baseline="0" dirty="0">
                <a:ln>
                  <a:noFill/>
                </a:ln>
                <a:solidFill>
                  <a:schemeClr val="tx1"/>
                </a:solidFill>
                <a:effectLst/>
                <a:latin typeface="Arial" panose="020B0604020202020204" pitchFamily="34" charset="0"/>
              </a:rPr>
              <a:t>LangGraph orchestration framework</a:t>
            </a:r>
            <a:r>
              <a:rPr kumimoji="0" lang="en-US" altLang="en-US" sz="1200" b="0" i="0" u="none" strike="noStrike" cap="none" normalizeH="0" baseline="0" dirty="0">
                <a:ln>
                  <a:noFill/>
                </a:ln>
                <a:solidFill>
                  <a:schemeClr val="tx1"/>
                </a:solidFill>
                <a:effectLst/>
                <a:latin typeface="Arial" panose="020B0604020202020204" pitchFamily="34" charset="0"/>
              </a:rPr>
              <a:t>, which intelligently routes user requests to the appropriate agent and coordinates the execution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By leveraging Agentic AI, the platform can automatically retrieve relevant accreditation knowledge through RAG, analyze institutional data, perform calculations, validate compliance requirements, generate reports, and provide recommendations with minimal human intervention. This significantly improves efficiency, accuracy, consistency, and decision-making while reducing the time and effort required for NBA accreditation activities.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In summary, Agentic AI transforms the platform from a passive information system into an intelligent, autonomous accreditation assistant capable of planning, reasoning, validating, and executing accreditation-related tasks end-to-end</a:t>
            </a:r>
            <a:r>
              <a:rPr kumimoji="0" lang="en-US" altLang="en-US" sz="900" b="1" i="0" u="none" strike="noStrike" cap="none" normalizeH="0" baseline="0" dirty="0">
                <a:ln>
                  <a:noFill/>
                </a:ln>
                <a:solidFill>
                  <a:schemeClr val="tx1"/>
                </a:solidFill>
                <a:effectLst/>
                <a:latin typeface="Arial" panose="020B0604020202020204" pitchFamily="34" charset="0"/>
              </a:rPr>
              <a:t>.</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546233" y="1520785"/>
            <a:ext cx="10515600" cy="1908215"/>
          </a:xfrm>
          <a:prstGeom prst="rect">
            <a:avLst/>
          </a:prstGeom>
          <a:noFill/>
        </p:spPr>
        <p:txBody>
          <a:bodyPr wrap="square" rtlCol="0">
            <a:spAutoFit/>
          </a:bodyPr>
          <a:lstStyle/>
          <a:p>
            <a:r>
              <a:rPr lang="en-IN" sz="1800" b="1" dirty="0"/>
              <a:t>Frontend:</a:t>
            </a:r>
            <a:r>
              <a:rPr lang="en-IN" sz="1800" dirty="0"/>
              <a:t> React.js, Vite, Tailwind CSS, Recharts, React Router</a:t>
            </a:r>
            <a:br>
              <a:rPr lang="en-IN" sz="1800" dirty="0"/>
            </a:br>
            <a:r>
              <a:rPr lang="en-IN" sz="1800" b="1" dirty="0"/>
              <a:t>Backend &amp; AI:</a:t>
            </a:r>
            <a:r>
              <a:rPr lang="en-IN" sz="1800" dirty="0"/>
              <a:t> Fast API, Python, LangGraph, Lang Flow, IBM watsonx.ai Granite, OpenAI GPT, RAG, FAISS, Sentence Transformers</a:t>
            </a:r>
            <a:br>
              <a:rPr lang="en-IN" sz="1800" dirty="0"/>
            </a:br>
            <a:r>
              <a:rPr lang="en-IN" sz="1800" b="1" dirty="0"/>
              <a:t>Database &amp; Deployment:</a:t>
            </a:r>
            <a:r>
              <a:rPr lang="en-IN" sz="1800" dirty="0"/>
              <a:t> PostgreSQL, MongoDB, Redis, Docker, Kubernetes, Nginx, Render, </a:t>
            </a:r>
            <a:r>
              <a:rPr lang="en-IN" sz="1800" dirty="0" err="1"/>
              <a:t>Vercel</a:t>
            </a:r>
            <a:r>
              <a:rPr lang="en-IN" sz="1800" dirty="0"/>
              <a:t>, Prometheus, Grafana, </a:t>
            </a:r>
            <a:r>
              <a:rPr lang="en-IN" sz="1800" dirty="0" err="1"/>
              <a:t>Streamlit</a:t>
            </a: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478423"/>
          </a:xfrm>
          <a:prstGeom prst="rect">
            <a:avLst/>
          </a:prstGeom>
          <a:noFill/>
        </p:spPr>
        <p:txBody>
          <a:bodyPr wrap="square" rtlCol="0">
            <a:spAutoFit/>
          </a:bodyPr>
          <a:lstStyle/>
          <a:p>
            <a:r>
              <a:rPr lang="en-US" dirty="0"/>
              <a:t>The proposed NBA Accreditation AI Platform introduces a </a:t>
            </a:r>
            <a:r>
              <a:rPr lang="en-US" b="1" dirty="0"/>
              <a:t>first-of-its-kind Agentic AI-driven approach</a:t>
            </a:r>
            <a:r>
              <a:rPr lang="en-US" dirty="0"/>
              <a:t> to accreditation management by combining </a:t>
            </a:r>
            <a:r>
              <a:rPr lang="en-US" b="1" dirty="0"/>
              <a:t>AI agents, LangGraph orchestration, Retrieval-Augmented Generation (RAG), and accreditation analytics</a:t>
            </a:r>
            <a:r>
              <a:rPr lang="en-US" dirty="0"/>
              <a:t> within a single unified platform. Unlike traditional accreditation systems that primarily function as document repositories, this platform acts as an intelligent assistant capable of understanding accreditation requirements, automating workflows, validating compliance, generating reports, and providing actionable recommendations.</a:t>
            </a:r>
          </a:p>
          <a:p>
            <a:endParaRPr lang="en-US" dirty="0"/>
          </a:p>
          <a:p>
            <a:r>
              <a:rPr lang="en-US" dirty="0"/>
              <a:t>A key innovation is the use of </a:t>
            </a:r>
            <a:r>
              <a:rPr lang="en-US" b="1" dirty="0"/>
              <a:t>multiple specialized AI agents</a:t>
            </a:r>
            <a:r>
              <a:rPr lang="en-US" dirty="0"/>
              <a:t> that collaborate to perform domain-specific tasks such as CO-PO mapping, attainment analysis, SAR generation, continuous improvement tracking, and compliance validation. These agents are coordinated through </a:t>
            </a:r>
            <a:r>
              <a:rPr lang="en-US" b="1" dirty="0"/>
              <a:t>LangGraph</a:t>
            </a:r>
            <a:r>
              <a:rPr lang="en-US" dirty="0"/>
              <a:t>, enabling autonomous decision-making and workflow execution rather than simple question-answer interactions.</a:t>
            </a:r>
          </a:p>
          <a:p>
            <a:r>
              <a:rPr lang="en-US" dirty="0"/>
              <a:t>The platform also incorporates a </a:t>
            </a:r>
            <a:r>
              <a:rPr lang="en-US" b="1" dirty="0"/>
              <a:t>RAG-based knowledge system</a:t>
            </a:r>
            <a:r>
              <a:rPr lang="en-US" dirty="0"/>
              <a:t> that retrieves relevant information from NBA manuals, institutional records, and accreditation documents before generating responses. This ensures that recommendations and reports are context-aware, accurate, and aligned with NBA guidelines. Additionally, the system provides </a:t>
            </a:r>
            <a:r>
              <a:rPr lang="en-US" b="1" dirty="0"/>
              <a:t>real-time accreditation readiness scoring, predictive analytics, and automated gap analysis</a:t>
            </a:r>
            <a:r>
              <a:rPr lang="en-US" dirty="0"/>
              <a:t>, helping institutions proactively identify weaknesses and improve compliance before accreditation reviews.</a:t>
            </a:r>
          </a:p>
          <a:p>
            <a:endParaRPr lang="en-US" b="1" dirty="0"/>
          </a:p>
          <a:p>
            <a:endParaRPr lang="en-US" b="1" dirty="0"/>
          </a:p>
          <a:p>
            <a:r>
              <a:rPr lang="en-US" b="1" dirty="0"/>
              <a:t>Key Unique Features</a:t>
            </a:r>
          </a:p>
          <a:p>
            <a:r>
              <a:rPr lang="en-US" dirty="0"/>
              <a:t>Multi-Agent AI architecture for accreditation automation. </a:t>
            </a:r>
          </a:p>
          <a:p>
            <a:r>
              <a:rPr lang="en-US" dirty="0"/>
              <a:t>LangGraph-based workflow orchestration and decision routing. </a:t>
            </a:r>
          </a:p>
          <a:p>
            <a:r>
              <a:rPr lang="en-US" dirty="0"/>
              <a:t>RAG-powered contextual understanding of NBA guidelines. </a:t>
            </a:r>
          </a:p>
          <a:p>
            <a:r>
              <a:rPr lang="en-US" dirty="0"/>
              <a:t>Automated CO-PO mapping and attainment calculations. </a:t>
            </a:r>
          </a:p>
          <a:p>
            <a:r>
              <a:rPr lang="en-US" dirty="0"/>
              <a:t>AI-generated Self-Assessment Reports (SARs). </a:t>
            </a:r>
          </a:p>
          <a:p>
            <a:r>
              <a:rPr lang="en-US" dirty="0"/>
              <a:t>Continuous Improvement (CI) recommendation engine. </a:t>
            </a:r>
          </a:p>
          <a:p>
            <a:r>
              <a:rPr lang="en-US" dirty="0"/>
              <a:t>Real-time readiness scoring and compliance monitoring. </a:t>
            </a:r>
          </a:p>
          <a:p>
            <a:r>
              <a:rPr lang="en-US" dirty="0"/>
              <a:t>Unified platform integrating accreditation management, analytics, and AI assistance. </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7B8AB764-9022-C955-D965-7BD161760343}"/>
              </a:ext>
            </a:extLst>
          </p:cNvPr>
          <p:cNvSpPr txBox="1"/>
          <p:nvPr/>
        </p:nvSpPr>
        <p:spPr>
          <a:xfrm>
            <a:off x="856648" y="1393946"/>
            <a:ext cx="8289758" cy="307777"/>
          </a:xfrm>
          <a:prstGeom prst="rect">
            <a:avLst/>
          </a:prstGeom>
          <a:noFill/>
        </p:spPr>
        <p:txBody>
          <a:bodyPr wrap="square">
            <a:spAutoFit/>
          </a:bodyPr>
          <a:lstStyle/>
          <a:p>
            <a:r>
              <a:rPr lang="en-IN" dirty="0" err="1">
                <a:hlinkClick r:id="rId3"/>
              </a:rPr>
              <a:t>logitechsabarni</a:t>
            </a:r>
            <a:r>
              <a:rPr lang="en-IN" dirty="0">
                <a:hlinkClick r:id="rId3"/>
              </a:rPr>
              <a:t>/NBA-</a:t>
            </a:r>
            <a:r>
              <a:rPr lang="en-IN" dirty="0" err="1">
                <a:hlinkClick r:id="rId3"/>
              </a:rPr>
              <a:t>Accredition</a:t>
            </a:r>
            <a:r>
              <a:rPr lang="en-IN" dirty="0">
                <a:hlinkClick r:id="rId3"/>
              </a:rPr>
              <a:t>-App-RAG-</a:t>
            </a:r>
            <a:endParaRPr lang="en-IN" dirty="0"/>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103221" y="869706"/>
            <a:ext cx="6444496" cy="704017"/>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2400" b="1" dirty="0">
                <a:sym typeface="Times New Roman"/>
              </a:rPr>
              <a:t>Future Scope</a:t>
            </a:r>
          </a:p>
          <a:p>
            <a:r>
              <a:rPr lang="en-US" sz="1200" dirty="0"/>
              <a:t>The NBA Accreditation AI Platform can be further enhanced into a comprehensive </a:t>
            </a:r>
            <a:r>
              <a:rPr lang="en-US" sz="1200" b="1" dirty="0"/>
              <a:t>higher education quality assurance ecosystem</a:t>
            </a:r>
            <a:r>
              <a:rPr lang="en-US" sz="1200" dirty="0"/>
              <a:t> by incorporating advanced AI capabilities, predictive analytics, and broader accreditation support. Future developments can focus on increasing automation, improving decision-making, and expanding the platform's applicability across multiple accreditation frameworks.</a:t>
            </a:r>
          </a:p>
          <a:p>
            <a:r>
              <a:rPr lang="en-US" sz="1200" dirty="0"/>
              <a:t>The platform can be extended to support </a:t>
            </a:r>
            <a:r>
              <a:rPr lang="en-US" sz="1200" b="1" dirty="0"/>
              <a:t>NAAC, ABET, and international accreditation standards</a:t>
            </a:r>
            <a:r>
              <a:rPr lang="en-US" sz="1200" dirty="0"/>
              <a:t>, enabling institutions to manage multiple accreditation processes through a single system. Advanced </a:t>
            </a:r>
            <a:r>
              <a:rPr lang="en-US" sz="1200" b="1" dirty="0"/>
              <a:t>predictive analytics and machine learning models</a:t>
            </a:r>
            <a:r>
              <a:rPr lang="en-US" sz="1200" dirty="0"/>
              <a:t> can be integrated to forecast accreditation outcomes, identify potential compliance risks, and recommend corrective actions well in advance. Future versions may also include </a:t>
            </a:r>
            <a:r>
              <a:rPr lang="en-US" sz="1200" b="1" dirty="0"/>
              <a:t>multilingual AI assistants</a:t>
            </a:r>
            <a:r>
              <a:rPr lang="en-US" sz="1200" dirty="0"/>
              <a:t>, voice-based interactions, and intelligent document processing for automated extraction of information from institutional records.</a:t>
            </a:r>
          </a:p>
          <a:p>
            <a:r>
              <a:rPr lang="en-US" sz="1200" dirty="0"/>
              <a:t>Integration with ERP, Learning Management Systems (LMS), and Student Information Systems (SIS) can enable real-time data synchronization, reducing manual data entry and improving accuracy. The platform can also leverage </a:t>
            </a:r>
            <a:r>
              <a:rPr lang="en-US" sz="1200" b="1" dirty="0"/>
              <a:t>Generative AI for automated evidence generation, accreditation documentation, and strategic planning recommendations</a:t>
            </a:r>
            <a:r>
              <a:rPr lang="en-US" sz="1200" dirty="0"/>
              <a:t>. Additionally, deploying AI-powered benchmarking and comparative analytics across institutions can help colleges identify best practices and continuously improve academic quality.</a:t>
            </a:r>
          </a:p>
          <a:p>
            <a:endParaRPr lang="en-US" sz="1200" b="1" dirty="0"/>
          </a:p>
          <a:p>
            <a:r>
              <a:rPr lang="en-US" sz="1200" b="1" dirty="0"/>
              <a:t>Key Future Enhancements</a:t>
            </a:r>
          </a:p>
          <a:p>
            <a:r>
              <a:rPr lang="en-US" sz="1200" dirty="0"/>
              <a:t>Support for NAAC, ABET, and international accreditation frameworks. </a:t>
            </a:r>
          </a:p>
          <a:p>
            <a:r>
              <a:rPr lang="en-US" sz="1200" dirty="0"/>
              <a:t>Predictive accreditation readiness and risk assessment. </a:t>
            </a:r>
          </a:p>
          <a:p>
            <a:r>
              <a:rPr lang="en-US" sz="1200" dirty="0"/>
              <a:t>AI-powered evidence and document generation. </a:t>
            </a:r>
          </a:p>
          <a:p>
            <a:r>
              <a:rPr lang="en-US" sz="1200" dirty="0"/>
              <a:t>Integration with ERP, LMS, and institutional databases. </a:t>
            </a:r>
          </a:p>
          <a:p>
            <a:r>
              <a:rPr lang="en-US" sz="1200" dirty="0"/>
              <a:t>Voice-enabled and multilingual AI assistant. </a:t>
            </a:r>
          </a:p>
          <a:p>
            <a:r>
              <a:rPr lang="en-US" sz="1200" dirty="0"/>
              <a:t>Advanced benchmarking and comparative analytics. </a:t>
            </a:r>
          </a:p>
          <a:p>
            <a:r>
              <a:rPr lang="en-US" sz="1200" dirty="0"/>
              <a:t>Mobile application for accreditation monitoring. </a:t>
            </a:r>
          </a:p>
          <a:p>
            <a:r>
              <a:rPr lang="en-US" sz="1200" dirty="0"/>
              <a:t>Cloud-native multi-tenant SaaS deployment for large-scale adoption.</a:t>
            </a:r>
          </a:p>
          <a:p>
            <a:pPr marL="0" marR="0" lvl="0" indent="0" algn="l" rtl="0">
              <a:lnSpc>
                <a:spcPct val="157142"/>
              </a:lnSpc>
              <a:spcBef>
                <a:spcPts val="0"/>
              </a:spcBef>
              <a:spcAft>
                <a:spcPts val="0"/>
              </a:spcAft>
              <a:buClr>
                <a:srgbClr val="051D3A"/>
              </a:buClr>
              <a:buSzPts val="3500"/>
              <a:buFont typeface="Times New Roman"/>
              <a:buNone/>
            </a:pPr>
            <a:r>
              <a:rPr lang="en-US" sz="1200" b="1" dirty="0">
                <a:sym typeface="Times New Roman"/>
              </a:rPr>
              <a:t> </a:t>
            </a:r>
            <a:endParaRPr sz="12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1289</TotalTime>
  <Words>1787</Words>
  <Application>Microsoft Office PowerPoint</Application>
  <PresentationFormat>Widescreen</PresentationFormat>
  <Paragraphs>107</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SUMIT GUHA</cp:lastModifiedBy>
  <cp:revision>23</cp:revision>
  <dcterms:created xsi:type="dcterms:W3CDTF">2025-07-08T05:06:56Z</dcterms:created>
  <dcterms:modified xsi:type="dcterms:W3CDTF">2026-06-05T18:15:08Z</dcterms:modified>
</cp:coreProperties>
</file>